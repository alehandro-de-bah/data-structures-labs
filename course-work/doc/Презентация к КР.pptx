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  <p:sldId id="26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39FF53A-5A9D-47F9-932E-FA33710EACD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7"/>
            <p14:sldId id="266"/>
            <p14:sldId id="269"/>
            <p14:sldId id="268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4678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70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801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6188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198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05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2555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925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408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131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224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4C82CEB-C77E-4255-9C5C-566A5537B7F9}" type="datetimeFigureOut">
              <a:rPr lang="ru-RU" smtClean="0"/>
              <a:t>13.05.2026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5A2EE7-139C-46B4-8880-DFDEF20138C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40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geosoft.no/development/cppstyle.html" TargetMode="External"/><Relationship Id="rId2" Type="http://schemas.openxmlformats.org/officeDocument/2006/relationships/hyperlink" Target="https://neerc.ifmo.ru/wiki/index.php?title=&#1050;&#1088;&#1072;&#1089;&#1085;&#1086;-&#1095;&#1077;&#1088;&#1085;&#1086;&#1077;_&#1076;&#1077;&#1088;&#1077;&#1074;&#1086;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E0216A-149A-453B-8CD6-D363B61DACAA}"/>
              </a:ext>
            </a:extLst>
          </p:cNvPr>
          <p:cNvSpPr txBox="1"/>
          <p:nvPr/>
        </p:nvSpPr>
        <p:spPr>
          <a:xfrm>
            <a:off x="1305265" y="458956"/>
            <a:ext cx="9581469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/>
              <a:t>Санкт-Петербургский политехнический университет Петра Великого</a:t>
            </a:r>
          </a:p>
          <a:p>
            <a:pPr algn="ctr">
              <a:lnSpc>
                <a:spcPct val="150000"/>
              </a:lnSpc>
            </a:pPr>
            <a:r>
              <a:rPr lang="ru-RU" sz="2000" dirty="0"/>
              <a:t>Институт компьютерных наук и кибербезопасности</a:t>
            </a:r>
          </a:p>
          <a:p>
            <a:pPr algn="ctr">
              <a:lnSpc>
                <a:spcPct val="150000"/>
              </a:lnSpc>
            </a:pPr>
            <a:r>
              <a:rPr lang="ru-RU" sz="2000" dirty="0"/>
              <a:t>Высшая школа программной инженерии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pPr algn="ctr">
              <a:lnSpc>
                <a:spcPct val="150000"/>
              </a:lnSpc>
            </a:pPr>
            <a:r>
              <a:rPr lang="ru-RU" sz="2000" spc="600" dirty="0"/>
              <a:t>КУРСОВАЯ РАБОТА</a:t>
            </a:r>
          </a:p>
          <a:p>
            <a:pPr algn="ctr">
              <a:lnSpc>
                <a:spcPct val="150000"/>
              </a:lnSpc>
            </a:pPr>
            <a:r>
              <a:rPr lang="ru-RU" sz="2000" dirty="0"/>
              <a:t>По дисциплине </a:t>
            </a:r>
            <a:r>
              <a:rPr lang="ru-RU" sz="2000" b="1" dirty="0"/>
              <a:t>Структуры данных</a:t>
            </a:r>
          </a:p>
          <a:p>
            <a:pPr algn="ctr">
              <a:lnSpc>
                <a:spcPct val="150000"/>
              </a:lnSpc>
            </a:pPr>
            <a:r>
              <a:rPr lang="ru-RU" sz="2000" b="1" dirty="0"/>
              <a:t>Алгоритмы работы со словарями</a:t>
            </a:r>
          </a:p>
          <a:p>
            <a:endParaRPr lang="ru-RU" sz="2000" dirty="0"/>
          </a:p>
          <a:p>
            <a:endParaRPr lang="ru-RU" sz="2000" dirty="0"/>
          </a:p>
          <a:p>
            <a:pPr algn="r">
              <a:lnSpc>
                <a:spcPct val="150000"/>
              </a:lnSpc>
            </a:pPr>
            <a:r>
              <a:rPr lang="ru-RU" sz="2000" dirty="0"/>
              <a:t>Студент гр. 5130904</a:t>
            </a:r>
            <a:r>
              <a:rPr lang="en-US" sz="2000" dirty="0"/>
              <a:t>/50001</a:t>
            </a:r>
            <a:r>
              <a:rPr lang="ru-RU" sz="2000" dirty="0"/>
              <a:t>                     </a:t>
            </a:r>
            <a:r>
              <a:rPr lang="en-US" sz="2000" dirty="0"/>
              <a:t> </a:t>
            </a:r>
            <a:r>
              <a:rPr lang="ru-RU" sz="2000" dirty="0"/>
              <a:t>                                     Бахуров А.С.</a:t>
            </a:r>
          </a:p>
          <a:p>
            <a:pPr algn="r">
              <a:lnSpc>
                <a:spcPct val="150000"/>
              </a:lnSpc>
            </a:pPr>
            <a:r>
              <a:rPr lang="ru-RU" sz="2000" dirty="0"/>
              <a:t> Преподаватель                                                                       Самочадина Т.Н.</a:t>
            </a:r>
          </a:p>
          <a:p>
            <a:endParaRPr lang="ru-RU" sz="2000" dirty="0"/>
          </a:p>
          <a:p>
            <a:pPr algn="ctr"/>
            <a:r>
              <a:rPr lang="ru-RU" sz="2000" dirty="0"/>
              <a:t>Санкт-Петербург - 2026</a:t>
            </a:r>
          </a:p>
        </p:txBody>
      </p:sp>
    </p:spTree>
    <p:extLst>
      <p:ext uri="{BB962C8B-B14F-4D97-AF65-F5344CB8AC3E}">
        <p14:creationId xmlns:p14="http://schemas.microsoft.com/office/powerpoint/2010/main" val="3018951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C5662-4E1A-D98F-C881-C010C160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38" y="922479"/>
            <a:ext cx="9692640" cy="701731"/>
          </a:xfrm>
        </p:spPr>
        <p:txBody>
          <a:bodyPr>
            <a:spAutoFit/>
          </a:bodyPr>
          <a:lstStyle/>
          <a:p>
            <a:r>
              <a:rPr lang="ru-RU" b="1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08423-07FA-537F-A824-18CD27E9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38" y="1871423"/>
            <a:ext cx="9339834" cy="37156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u="sng" dirty="0"/>
              <a:t>Тема</a:t>
            </a:r>
            <a:r>
              <a:rPr lang="en-US" dirty="0"/>
              <a:t>: </a:t>
            </a:r>
            <a:r>
              <a:rPr lang="ru-RU" dirty="0"/>
              <a:t>Алгоритмы работы со словарями</a:t>
            </a:r>
          </a:p>
          <a:p>
            <a:pPr marL="0" indent="0">
              <a:buNone/>
            </a:pPr>
            <a:r>
              <a:rPr lang="ru-RU" u="sng" dirty="0"/>
              <a:t>Вариант 1.1.3.</a:t>
            </a:r>
            <a:r>
              <a:rPr lang="ru-RU" dirty="0"/>
              <a:t> Англо-русский словарь. Красно-чёрное дерево</a:t>
            </a:r>
          </a:p>
          <a:p>
            <a:pPr marL="0" indent="0">
              <a:buNone/>
            </a:pPr>
            <a:r>
              <a:rPr lang="ru-RU" u="sng" dirty="0"/>
              <a:t>Цель</a:t>
            </a:r>
            <a:r>
              <a:rPr lang="en-US" dirty="0"/>
              <a:t>: </a:t>
            </a:r>
            <a:r>
              <a:rPr lang="ru-RU" dirty="0"/>
              <a:t>Разработать и реализовать алгоритм работы с англо-русским словарём, реализованным как красно-чёрное дерево</a:t>
            </a:r>
          </a:p>
          <a:p>
            <a:pPr marL="0" indent="0">
              <a:buNone/>
            </a:pPr>
            <a:r>
              <a:rPr lang="ru-RU" u="sng" dirty="0"/>
              <a:t>Основные операции</a:t>
            </a:r>
            <a:r>
              <a:rPr lang="en-US" dirty="0"/>
              <a:t>:</a:t>
            </a:r>
          </a:p>
          <a:p>
            <a:r>
              <a:rPr lang="en-US" b="1" dirty="0"/>
              <a:t>INSERT</a:t>
            </a:r>
            <a:r>
              <a:rPr lang="ru-RU" b="1" dirty="0"/>
              <a:t> </a:t>
            </a:r>
            <a:r>
              <a:rPr lang="en-US" b="1" dirty="0"/>
              <a:t>(</a:t>
            </a:r>
            <a:r>
              <a:rPr lang="ru-RU" b="1" dirty="0"/>
              <a:t>ключ, значение) </a:t>
            </a:r>
            <a:r>
              <a:rPr lang="ru-RU" dirty="0"/>
              <a:t>– добавить запись с указанным ключом и значением</a:t>
            </a:r>
          </a:p>
          <a:p>
            <a:r>
              <a:rPr lang="en-US" b="1" dirty="0"/>
              <a:t>SEARCH</a:t>
            </a:r>
            <a:r>
              <a:rPr lang="ru-RU" b="1" dirty="0"/>
              <a:t> (ключ)</a:t>
            </a:r>
            <a:r>
              <a:rPr lang="ru-RU" dirty="0"/>
              <a:t> – найти запись с указанным ключом</a:t>
            </a:r>
          </a:p>
          <a:p>
            <a:r>
              <a:rPr lang="en-US" b="1" dirty="0"/>
              <a:t>REMOVE</a:t>
            </a:r>
            <a:r>
              <a:rPr lang="ru-RU" b="1" dirty="0"/>
              <a:t> (ключ) </a:t>
            </a:r>
            <a:r>
              <a:rPr lang="ru-RU" dirty="0"/>
              <a:t>– удалить запись с указанным ключом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7C5CE-72FB-E0F4-8DA4-F2FC34542D6C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2</a:t>
            </a:r>
            <a:endParaRPr lang="ru-RU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4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BD2A3-CCDA-BB65-B4C3-E3296F07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119" y="666750"/>
            <a:ext cx="8444103" cy="1325562"/>
          </a:xfrm>
        </p:spPr>
        <p:txBody>
          <a:bodyPr>
            <a:normAutofit/>
          </a:bodyPr>
          <a:lstStyle/>
          <a:p>
            <a:r>
              <a:rPr lang="ru-RU" b="1" dirty="0"/>
              <a:t>Структура данных «Красно-чёрное дерево»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C7AE3A-7BF8-178C-4B00-B5E5E969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19" y="2532179"/>
            <a:ext cx="9329928" cy="3506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Красно-чёрным</a:t>
            </a:r>
            <a:r>
              <a:rPr lang="ru-RU" dirty="0"/>
              <a:t> называется бинарное поисковое дерево, у которого каждому узлу сопоставлен дополнительный атрибут — цвет и для которого выполняются следующие свойства:</a:t>
            </a:r>
          </a:p>
          <a:p>
            <a:pPr lvl="0"/>
            <a:r>
              <a:rPr lang="ru-RU" dirty="0"/>
              <a:t>Каждый узел промаркирован красным или чёрным цветом</a:t>
            </a:r>
          </a:p>
          <a:p>
            <a:pPr lvl="0"/>
            <a:r>
              <a:rPr lang="ru-RU" dirty="0"/>
              <a:t>Корень и конечные узлы (листья) дерева - чёрные</a:t>
            </a:r>
          </a:p>
          <a:p>
            <a:pPr lvl="0"/>
            <a:r>
              <a:rPr lang="ru-RU" dirty="0"/>
              <a:t>У красного узла родительский узел - чёрный</a:t>
            </a:r>
          </a:p>
          <a:p>
            <a:pPr lvl="0"/>
            <a:r>
              <a:rPr lang="ru-RU" dirty="0"/>
              <a:t>Все простые пути из любого узла </a:t>
            </a:r>
            <a:r>
              <a:rPr lang="en-US" dirty="0"/>
              <a:t>x </a:t>
            </a:r>
            <a:r>
              <a:rPr lang="ru-RU" dirty="0"/>
              <a:t>до листьев содержат одинаковое количество чёрных узлов</a:t>
            </a:r>
          </a:p>
          <a:p>
            <a:pPr lvl="0"/>
            <a:r>
              <a:rPr lang="ru-RU" dirty="0"/>
              <a:t>Чёрный узел может иметь чёрного родителя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E119A-26EF-1DDC-718B-C5C9FC860AE4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154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E3AA5-1464-E8A5-7495-2B643458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372" y="684791"/>
            <a:ext cx="9434703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Пример красно-чёрного дерева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558CC6-D0AE-7E80-AC1D-C0D859EFC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359" y="1824411"/>
            <a:ext cx="7384728" cy="40906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DA2893-C3CF-21D0-9A60-0BDAF5CB8C1C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32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13AF1-AE7B-6D5E-0AD2-09FCE629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983" y="661035"/>
            <a:ext cx="8595360" cy="1325562"/>
          </a:xfrm>
        </p:spPr>
        <p:txBody>
          <a:bodyPr/>
          <a:lstStyle/>
          <a:p>
            <a:r>
              <a:rPr lang="ru-RU" b="1" dirty="0"/>
              <a:t>Структура данных «Двусвязный список»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8043E4-ACBB-9E10-EDE5-FC03FEB5F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3" r="1563"/>
          <a:stretch>
            <a:fillRect/>
          </a:stretch>
        </p:blipFill>
        <p:spPr>
          <a:xfrm>
            <a:off x="1071372" y="2186838"/>
            <a:ext cx="8595360" cy="1173582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2AF9EB2C-F1F7-C27E-D8D0-B9E428B1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72" y="3560661"/>
            <a:ext cx="9358503" cy="2541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Обоснование выбора</a:t>
            </a:r>
            <a:r>
              <a:rPr lang="en-US" dirty="0"/>
              <a:t>:</a:t>
            </a:r>
            <a:endParaRPr lang="ru-RU" dirty="0"/>
          </a:p>
          <a:p>
            <a:pPr marL="342900" indent="-342900"/>
            <a:r>
              <a:rPr lang="ru-RU" dirty="0"/>
              <a:t>Хранение переводов в </a:t>
            </a:r>
            <a:r>
              <a:rPr lang="ru-RU" b="1" dirty="0"/>
              <a:t>лексикографическом</a:t>
            </a:r>
            <a:r>
              <a:rPr lang="ru-RU" dirty="0"/>
              <a:t> порядке</a:t>
            </a:r>
          </a:p>
          <a:p>
            <a:pPr marL="342900" indent="-342900"/>
            <a:r>
              <a:rPr lang="ru-RU" dirty="0"/>
              <a:t>Отсутствие одинаковых переводов (дубликатов)</a:t>
            </a:r>
          </a:p>
          <a:p>
            <a:pPr marL="342900" indent="-342900"/>
            <a:r>
              <a:rPr lang="ru-RU" dirty="0"/>
              <a:t>Наличие </a:t>
            </a:r>
            <a:r>
              <a:rPr lang="ru-RU" b="1" dirty="0"/>
              <a:t>двунаправленных итераторов</a:t>
            </a:r>
            <a:r>
              <a:rPr lang="ru-RU" dirty="0"/>
              <a:t> для вывода переводов</a:t>
            </a:r>
          </a:p>
          <a:p>
            <a:pPr marL="342900" indent="-342900"/>
            <a:r>
              <a:rPr lang="ru-RU" dirty="0"/>
              <a:t>Возможность </a:t>
            </a:r>
            <a:r>
              <a:rPr lang="ru-RU" b="1" dirty="0"/>
              <a:t>слияния</a:t>
            </a:r>
            <a:r>
              <a:rPr lang="ru-RU" dirty="0"/>
              <a:t> списков при добавлении переводов к существующему слову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165A4-E9BB-D2E0-491B-D1EAD11EFB44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411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9EBA1-FFC7-873A-9493-9937333A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561753"/>
            <a:ext cx="9692640" cy="701731"/>
          </a:xfrm>
        </p:spPr>
        <p:txBody>
          <a:bodyPr>
            <a:spAutoFit/>
          </a:bodyPr>
          <a:lstStyle/>
          <a:p>
            <a:r>
              <a:rPr lang="ru-RU" b="1" dirty="0"/>
              <a:t>Анализ алгоритмов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3FE27B7-1466-624E-7DE4-8BE0DCC4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5" y="1435768"/>
            <a:ext cx="9358591" cy="4860479"/>
          </a:xfrm>
        </p:spPr>
        <p:txBody>
          <a:bodyPr>
            <a:noAutofit/>
          </a:bodyPr>
          <a:lstStyle/>
          <a:p>
            <a:r>
              <a:rPr lang="ru-RU" b="1" dirty="0"/>
              <a:t>Вставка (</a:t>
            </a:r>
            <a:r>
              <a:rPr lang="en-US" b="1" dirty="0"/>
              <a:t>INSERT)</a:t>
            </a:r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dirty="0"/>
              <a:t>Обычная вставка в </a:t>
            </a:r>
            <a:r>
              <a:rPr lang="en-US" dirty="0"/>
              <a:t>BST </a:t>
            </a:r>
            <a:r>
              <a:rPr lang="ru-RU" dirty="0"/>
              <a:t>+ Восстановление свойств + Вставка перевода в список</a:t>
            </a:r>
            <a:endParaRPr lang="en-US" dirty="0"/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i="1" dirty="0"/>
              <a:t>Сложность</a:t>
            </a:r>
            <a:r>
              <a:rPr lang="en-US" dirty="0"/>
              <a:t>: O(log(n)) + O(m)</a:t>
            </a:r>
          </a:p>
          <a:p>
            <a:r>
              <a:rPr lang="ru-RU" b="1" dirty="0"/>
              <a:t>Поиск (</a:t>
            </a:r>
            <a:r>
              <a:rPr lang="en-US" b="1" dirty="0"/>
              <a:t>SEARCH)</a:t>
            </a:r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dirty="0"/>
              <a:t>Спуск от корня к искомому узлу</a:t>
            </a:r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i="1" dirty="0"/>
              <a:t>Сложность</a:t>
            </a:r>
            <a:r>
              <a:rPr lang="en-US" dirty="0"/>
              <a:t>: O(log(n))</a:t>
            </a:r>
          </a:p>
          <a:p>
            <a:r>
              <a:rPr lang="ru-RU" b="1" dirty="0"/>
              <a:t>Удаление (</a:t>
            </a:r>
            <a:r>
              <a:rPr lang="en-US" b="1" dirty="0"/>
              <a:t>REMOVE)</a:t>
            </a:r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dirty="0"/>
              <a:t>Поиск узла</a:t>
            </a:r>
            <a:r>
              <a:rPr lang="en-US" dirty="0"/>
              <a:t> </a:t>
            </a:r>
            <a:r>
              <a:rPr lang="ru-RU" dirty="0"/>
              <a:t>+ Восстановление свойств</a:t>
            </a:r>
            <a:endParaRPr lang="en-US" dirty="0"/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i="1" dirty="0"/>
              <a:t>Сложность</a:t>
            </a:r>
            <a:r>
              <a:rPr lang="en-US" dirty="0"/>
              <a:t>: O(log(n))</a:t>
            </a:r>
            <a:endParaRPr lang="ru-RU" dirty="0"/>
          </a:p>
          <a:p>
            <a:pPr marL="0" indent="0">
              <a:buNone/>
            </a:pPr>
            <a:r>
              <a:rPr lang="ru-RU" i="1" dirty="0"/>
              <a:t>Примечание</a:t>
            </a:r>
            <a:r>
              <a:rPr lang="en-US" dirty="0"/>
              <a:t>: n – </a:t>
            </a:r>
            <a:r>
              <a:rPr lang="ru-RU" dirty="0"/>
              <a:t>количество слов в словаре, </a:t>
            </a:r>
            <a:r>
              <a:rPr lang="en-US" dirty="0"/>
              <a:t>m – </a:t>
            </a:r>
            <a:r>
              <a:rPr lang="ru-RU" dirty="0"/>
              <a:t>количество переводов слова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BA105-DAED-6DBF-C6B0-B0D71866A6F7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80276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4AB0B-1B2F-91C1-60CC-FDE95F9F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662349"/>
            <a:ext cx="8595360" cy="1325562"/>
          </a:xfrm>
        </p:spPr>
        <p:txBody>
          <a:bodyPr wrap="square">
            <a:spAutoFit/>
          </a:bodyPr>
          <a:lstStyle/>
          <a:p>
            <a:r>
              <a:rPr lang="ru-RU" b="1" dirty="0"/>
              <a:t>Сравнение с другими структурами данных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97892A1-835C-16BA-D1A1-C6A350F261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935496"/>
              </p:ext>
            </p:extLst>
          </p:nvPr>
        </p:nvGraphicFramePr>
        <p:xfrm>
          <a:off x="1068928" y="2333126"/>
          <a:ext cx="935858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940">
                  <a:extLst>
                    <a:ext uri="{9D8B030D-6E8A-4147-A177-3AD203B41FA5}">
                      <a16:colId xmlns:a16="http://schemas.microsoft.com/office/drawing/2014/main" val="3066306917"/>
                    </a:ext>
                  </a:extLst>
                </a:gridCol>
                <a:gridCol w="1805500">
                  <a:extLst>
                    <a:ext uri="{9D8B030D-6E8A-4147-A177-3AD203B41FA5}">
                      <a16:colId xmlns:a16="http://schemas.microsoft.com/office/drawing/2014/main" val="2068053434"/>
                    </a:ext>
                  </a:extLst>
                </a:gridCol>
                <a:gridCol w="2004561">
                  <a:extLst>
                    <a:ext uri="{9D8B030D-6E8A-4147-A177-3AD203B41FA5}">
                      <a16:colId xmlns:a16="http://schemas.microsoft.com/office/drawing/2014/main" val="94604730"/>
                    </a:ext>
                  </a:extLst>
                </a:gridCol>
                <a:gridCol w="1757862">
                  <a:extLst>
                    <a:ext uri="{9D8B030D-6E8A-4147-A177-3AD203B41FA5}">
                      <a16:colId xmlns:a16="http://schemas.microsoft.com/office/drawing/2014/main" val="62517464"/>
                    </a:ext>
                  </a:extLst>
                </a:gridCol>
                <a:gridCol w="2061726">
                  <a:extLst>
                    <a:ext uri="{9D8B030D-6E8A-4147-A177-3AD203B41FA5}">
                      <a16:colId xmlns:a16="http://schemas.microsoft.com/office/drawing/2014/main" val="1502586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Операция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КЧ-дерево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АВЛ-дерево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2-3-дерево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Хеш-таблица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06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O(log(n))</a:t>
                      </a:r>
                      <a:endParaRPr lang="ru-RU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O(1)/O(n)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00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Вставка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O(log(n))</a:t>
                      </a:r>
                      <a:endParaRPr lang="ru-RU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O(1)/O(n)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0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Удаление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O(log(n))</a:t>
                      </a:r>
                      <a:endParaRPr lang="ru-RU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O(log(n))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O(1)/O(n)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758563"/>
                  </a:ext>
                </a:extLst>
              </a:tr>
            </a:tbl>
          </a:graphicData>
        </a:graphic>
      </p:graphicFrame>
      <p:sp>
        <p:nvSpPr>
          <p:cNvPr id="5" name="Объект 2">
            <a:extLst>
              <a:ext uri="{FF2B5EF4-FFF2-40B4-BE49-F238E27FC236}">
                <a16:creationId xmlns:a16="http://schemas.microsoft.com/office/drawing/2014/main" id="{742DC0CA-C391-0132-4A51-35245CFB412A}"/>
              </a:ext>
            </a:extLst>
          </p:cNvPr>
          <p:cNvSpPr txBox="1">
            <a:spLocks/>
          </p:cNvSpPr>
          <p:nvPr/>
        </p:nvSpPr>
        <p:spPr>
          <a:xfrm>
            <a:off x="1068927" y="4161702"/>
            <a:ext cx="9358590" cy="2033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Требует меньше операций балансировки при удалении по сравнению с АВЛ-деревом</a:t>
            </a:r>
          </a:p>
          <a:p>
            <a:r>
              <a:rPr lang="ru-RU" dirty="0"/>
              <a:t>Относительная простота реализации по сравнению с 2-3-деревом</a:t>
            </a:r>
          </a:p>
          <a:p>
            <a:r>
              <a:rPr lang="ru-RU" dirty="0"/>
              <a:t>Хеш-таблица в среднем быстрее, но не гарантирует </a:t>
            </a:r>
            <a:r>
              <a:rPr lang="en-US" dirty="0"/>
              <a:t>O(1) </a:t>
            </a:r>
            <a:r>
              <a:rPr lang="ru-RU" dirty="0"/>
              <a:t>в худшем случае и не поддерживает упорядоченное хранение</a:t>
            </a:r>
          </a:p>
          <a:p>
            <a:pPr marL="0" indent="0">
              <a:buFont typeface="Arial" pitchFamily="34" charset="0"/>
              <a:buNone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453CD-BFD5-EE47-C7C4-552D1A97736B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63496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F1597-4FA9-1BA3-8857-62DE97DF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6" y="659375"/>
            <a:ext cx="9350202" cy="1325562"/>
          </a:xfrm>
        </p:spPr>
        <p:txBody>
          <a:bodyPr wrap="square">
            <a:spAutoFit/>
          </a:bodyPr>
          <a:lstStyle/>
          <a:p>
            <a:r>
              <a:rPr lang="ru-RU" b="1" dirty="0"/>
              <a:t>Форматы входных и</a:t>
            </a:r>
            <a:br>
              <a:rPr lang="en-US" b="1" dirty="0"/>
            </a:br>
            <a:r>
              <a:rPr lang="ru-RU" b="1" dirty="0"/>
              <a:t>выходных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2D4C8-99F6-85F3-1429-DD994B4B8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6" y="2313684"/>
            <a:ext cx="9350202" cy="3884941"/>
          </a:xfrm>
        </p:spPr>
        <p:txBody>
          <a:bodyPr>
            <a:noAutofit/>
          </a:bodyPr>
          <a:lstStyle/>
          <a:p>
            <a:r>
              <a:rPr lang="ru-RU" b="1" dirty="0"/>
              <a:t>Входной файл</a:t>
            </a:r>
            <a:endParaRPr lang="en-US" b="1" dirty="0"/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u="sng" dirty="0"/>
              <a:t>Кодировка</a:t>
            </a:r>
            <a:r>
              <a:rPr lang="en-US" dirty="0"/>
              <a:t>: CP1251</a:t>
            </a:r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u="sng" dirty="0"/>
              <a:t>Формат записи</a:t>
            </a:r>
            <a:r>
              <a:rPr lang="en-US" dirty="0"/>
              <a:t>: </a:t>
            </a:r>
            <a:r>
              <a:rPr lang="ru-RU" b="1" dirty="0"/>
              <a:t>[слово][перевод1 перевод2 … перевод</a:t>
            </a:r>
            <a:r>
              <a:rPr lang="en-US" b="1" dirty="0"/>
              <a:t>N</a:t>
            </a:r>
            <a:r>
              <a:rPr lang="ru-RU" b="1" dirty="0"/>
              <a:t>]</a:t>
            </a:r>
            <a:endParaRPr lang="en-US" dirty="0"/>
          </a:p>
          <a:p>
            <a:r>
              <a:rPr lang="ru-RU" b="1" dirty="0"/>
              <a:t>Выходной файл</a:t>
            </a:r>
            <a:endParaRPr lang="en-US" b="1" dirty="0"/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u="sng" dirty="0"/>
              <a:t>Кодировка</a:t>
            </a:r>
            <a:r>
              <a:rPr lang="en-US" dirty="0"/>
              <a:t>: CP1251</a:t>
            </a:r>
            <a:endParaRPr lang="ru-RU" dirty="0"/>
          </a:p>
          <a:p>
            <a:pPr indent="450000">
              <a:buFont typeface="Wingdings" panose="05000000000000000000" pitchFamily="2" charset="2"/>
              <a:buChar char="Ø"/>
            </a:pPr>
            <a:r>
              <a:rPr lang="ru-RU" u="sng" dirty="0"/>
              <a:t>Формат записи</a:t>
            </a:r>
            <a:r>
              <a:rPr lang="en-US" dirty="0"/>
              <a:t>: </a:t>
            </a:r>
            <a:r>
              <a:rPr lang="ru-RU" b="1" dirty="0"/>
              <a:t>&lt;номер&gt;. &lt;слово&gt; - &lt;перевод1&gt;, &lt;перевод2&gt;, …</a:t>
            </a:r>
            <a:endParaRPr lang="ru-RU" dirty="0"/>
          </a:p>
          <a:p>
            <a:r>
              <a:rPr lang="ru-RU" b="1" dirty="0"/>
              <a:t>Английское слово</a:t>
            </a:r>
            <a:r>
              <a:rPr lang="en-US" dirty="0"/>
              <a:t>: </a:t>
            </a:r>
            <a:r>
              <a:rPr lang="ru-RU" dirty="0"/>
              <a:t>латинские буквы, дефис, апостроф</a:t>
            </a:r>
          </a:p>
          <a:p>
            <a:r>
              <a:rPr lang="ru-RU" b="1" dirty="0"/>
              <a:t>Русский перевод</a:t>
            </a:r>
            <a:r>
              <a:rPr lang="en-US" dirty="0"/>
              <a:t>: </a:t>
            </a:r>
            <a:r>
              <a:rPr lang="ru-RU" dirty="0"/>
              <a:t>кириллические буквы, дефис, апостроф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5A7AC-7D65-6C63-F1F4-09B8D03A0A91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53311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5EB59-D3BB-D020-300D-81845E05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679197"/>
            <a:ext cx="9375369" cy="1311128"/>
          </a:xfrm>
        </p:spPr>
        <p:txBody>
          <a:bodyPr wrap="square">
            <a:spAutoFit/>
          </a:bodyPr>
          <a:lstStyle/>
          <a:p>
            <a:r>
              <a:rPr lang="ru-RU" b="1" dirty="0"/>
              <a:t>Пример входных и </a:t>
            </a:r>
            <a:br>
              <a:rPr lang="ru-RU" b="1" dirty="0"/>
            </a:br>
            <a:r>
              <a:rPr lang="ru-RU" b="1" dirty="0"/>
              <a:t>выходных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0F7CD-9B3D-9EF6-338F-16793BA24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536" y="2291824"/>
            <a:ext cx="3800210" cy="363919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[aback][смущённый]</a:t>
            </a:r>
          </a:p>
          <a:p>
            <a:pPr marL="0" indent="0">
              <a:buNone/>
            </a:pPr>
            <a:r>
              <a:rPr lang="ru-RU" dirty="0"/>
              <a:t>[abase][унижать понижать]</a:t>
            </a:r>
          </a:p>
          <a:p>
            <a:pPr marL="0" indent="0">
              <a:buNone/>
            </a:pPr>
            <a:r>
              <a:rPr lang="ru-RU" dirty="0"/>
              <a:t>[abash][смущать пристыдить]</a:t>
            </a:r>
          </a:p>
          <a:p>
            <a:pPr marL="0" indent="0">
              <a:buNone/>
            </a:pPr>
            <a:r>
              <a:rPr lang="ru-RU" dirty="0"/>
              <a:t>[abate][уменьшать сбавлять]</a:t>
            </a:r>
          </a:p>
          <a:p>
            <a:pPr marL="0" indent="0">
              <a:buNone/>
            </a:pPr>
            <a:r>
              <a:rPr lang="ru-RU" dirty="0"/>
              <a:t>[abdicate][отрекаться]</a:t>
            </a:r>
          </a:p>
          <a:p>
            <a:pPr marL="0" indent="0">
              <a:buNone/>
            </a:pPr>
            <a:r>
              <a:rPr lang="ru-RU" dirty="0"/>
              <a:t>…</a:t>
            </a:r>
          </a:p>
          <a:p>
            <a:pPr marL="0" indent="0">
              <a:buNone/>
            </a:pPr>
            <a:r>
              <a:rPr lang="ru-RU" dirty="0"/>
              <a:t>[apple23][яблоко]</a:t>
            </a:r>
          </a:p>
          <a:p>
            <a:pPr marL="0" indent="0">
              <a:buNone/>
            </a:pPr>
            <a:r>
              <a:rPr lang="ru-RU" dirty="0"/>
              <a:t>[apple]яблоко]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F4331C4-863C-8DB6-BEAF-B3931971A8AA}"/>
              </a:ext>
            </a:extLst>
          </p:cNvPr>
          <p:cNvSpPr txBox="1">
            <a:spLocks/>
          </p:cNvSpPr>
          <p:nvPr/>
        </p:nvSpPr>
        <p:spPr>
          <a:xfrm>
            <a:off x="6096000" y="2285064"/>
            <a:ext cx="3800211" cy="36391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1. aback - </a:t>
            </a:r>
            <a:r>
              <a:rPr lang="ru-RU" dirty="0"/>
              <a:t>смущенный</a:t>
            </a:r>
          </a:p>
          <a:p>
            <a:pPr marL="0" indent="0">
              <a:buNone/>
            </a:pPr>
            <a:r>
              <a:rPr lang="en-US" dirty="0"/>
              <a:t>2. abase - </a:t>
            </a:r>
            <a:r>
              <a:rPr lang="ru-RU" dirty="0"/>
              <a:t>понижать, унижать</a:t>
            </a:r>
          </a:p>
          <a:p>
            <a:pPr marL="0" indent="0">
              <a:buNone/>
            </a:pPr>
            <a:r>
              <a:rPr lang="en-US" dirty="0"/>
              <a:t>3. abash - </a:t>
            </a:r>
            <a:r>
              <a:rPr lang="ru-RU" dirty="0"/>
              <a:t>пристыдить, смущать</a:t>
            </a:r>
          </a:p>
          <a:p>
            <a:pPr marL="0" indent="0">
              <a:buNone/>
            </a:pPr>
            <a:r>
              <a:rPr lang="en-US" dirty="0"/>
              <a:t>4. abate - </a:t>
            </a:r>
            <a:r>
              <a:rPr lang="ru-RU" dirty="0"/>
              <a:t>сбавлять, уменьшать</a:t>
            </a:r>
          </a:p>
          <a:p>
            <a:pPr marL="0" indent="0">
              <a:buNone/>
            </a:pPr>
            <a:r>
              <a:rPr lang="en-US" dirty="0"/>
              <a:t>5. abdicate - </a:t>
            </a:r>
            <a:r>
              <a:rPr lang="ru-RU" dirty="0"/>
              <a:t>отрекаться</a:t>
            </a:r>
          </a:p>
          <a:p>
            <a:pPr marL="0" indent="0">
              <a:buNone/>
            </a:pPr>
            <a:r>
              <a:rPr lang="en-US" dirty="0"/>
              <a:t>6. abduction - </a:t>
            </a:r>
            <a:r>
              <a:rPr lang="ru-RU" dirty="0"/>
              <a:t>похищение, увод</a:t>
            </a:r>
          </a:p>
          <a:p>
            <a:pPr marL="0" indent="0">
              <a:buNone/>
            </a:pPr>
            <a:r>
              <a:rPr lang="ru-RU" dirty="0"/>
              <a:t>…</a:t>
            </a:r>
          </a:p>
          <a:p>
            <a:pPr marL="0" indent="0">
              <a:buNone/>
            </a:pPr>
            <a:r>
              <a:rPr lang="en-US" dirty="0"/>
              <a:t>30. apple - </a:t>
            </a:r>
            <a:r>
              <a:rPr lang="ru-RU" dirty="0"/>
              <a:t>НЕТ ПЕРЕВОДОВ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30F4E-1098-B741-98BB-D1D0C644D0EB}"/>
              </a:ext>
            </a:extLst>
          </p:cNvPr>
          <p:cNvSpPr txBox="1"/>
          <p:nvPr/>
        </p:nvSpPr>
        <p:spPr>
          <a:xfrm>
            <a:off x="11545602" y="6038850"/>
            <a:ext cx="4267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43482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492E-7776-41F0-1ECA-2798475C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561752"/>
            <a:ext cx="9692640" cy="701731"/>
          </a:xfrm>
        </p:spPr>
        <p:txBody>
          <a:bodyPr>
            <a:spAutoFit/>
          </a:bodyPr>
          <a:lstStyle/>
          <a:p>
            <a:r>
              <a:rPr lang="ru-RU" b="1" dirty="0"/>
              <a:t>Список допустимых команд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6E18F-E249-0670-B22F-ACAFB62AD57A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10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C64CC53-9D92-2B3F-5BBA-3965320C6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368685"/>
              </p:ext>
            </p:extLst>
          </p:nvPr>
        </p:nvGraphicFramePr>
        <p:xfrm>
          <a:off x="1068925" y="1902514"/>
          <a:ext cx="9358591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6552">
                  <a:extLst>
                    <a:ext uri="{9D8B030D-6E8A-4147-A177-3AD203B41FA5}">
                      <a16:colId xmlns:a16="http://schemas.microsoft.com/office/drawing/2014/main" val="3942291043"/>
                    </a:ext>
                  </a:extLst>
                </a:gridCol>
                <a:gridCol w="3652039">
                  <a:extLst>
                    <a:ext uri="{9D8B030D-6E8A-4147-A177-3AD203B41FA5}">
                      <a16:colId xmlns:a16="http://schemas.microsoft.com/office/drawing/2014/main" val="1143684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Синтаксис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9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INSERT [</a:t>
                      </a:r>
                      <a:r>
                        <a:rPr lang="ru-RU" sz="1800" b="1" dirty="0"/>
                        <a:t>слово][перевод1 перевод2 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Вставка слова с переводами в словарь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210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SEARCH &lt;</a:t>
                      </a:r>
                      <a:r>
                        <a:rPr lang="ru-RU" sz="1800" b="1" dirty="0"/>
                        <a:t>слово&gt;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Поиск записи словаря с заданным словом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51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REMOVE &lt;</a:t>
                      </a:r>
                      <a:r>
                        <a:rPr lang="ru-RU" sz="1800" b="1" dirty="0"/>
                        <a:t>слово&gt;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Удаление записи словаря с заданным словом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180522"/>
                  </a:ext>
                </a:extLst>
              </a:tr>
              <a:tr h="39756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PRINT</a:t>
                      </a:r>
                      <a:endParaRPr lang="ru-RU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Вывод всех записей словаря на экран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97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EXIT &lt;</a:t>
                      </a:r>
                      <a:r>
                        <a:rPr lang="ru-RU" sz="1800" b="1" dirty="0"/>
                        <a:t>выходной файл&gt;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Сохранение словаря в файл и завершение программы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749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814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C6531-66C1-800F-3BFB-50026382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6" y="568806"/>
            <a:ext cx="8595360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Структура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AF5F88-D309-C24E-5318-A2902592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6" y="1782522"/>
            <a:ext cx="9358591" cy="3896964"/>
          </a:xfrm>
        </p:spPr>
        <p:txBody>
          <a:bodyPr>
            <a:spAutoFit/>
          </a:bodyPr>
          <a:lstStyle/>
          <a:p>
            <a:r>
              <a:rPr lang="en-US" b="1" dirty="0"/>
              <a:t>DoubleOrderedList.h</a:t>
            </a:r>
            <a:r>
              <a:rPr lang="en-US" dirty="0"/>
              <a:t> – </a:t>
            </a:r>
            <a:r>
              <a:rPr lang="ru-RU" dirty="0"/>
              <a:t>шаблонный класс двусвязного упорядоченного списка без дубликатов </a:t>
            </a:r>
            <a:endParaRPr lang="en-US" dirty="0"/>
          </a:p>
          <a:p>
            <a:r>
              <a:rPr lang="en-US" b="1" dirty="0"/>
              <a:t>ListExceptions.h</a:t>
            </a:r>
            <a:r>
              <a:rPr lang="ru-RU" dirty="0"/>
              <a:t> - классы исключений для</a:t>
            </a:r>
            <a:r>
              <a:rPr lang="en-US" dirty="0"/>
              <a:t> DoubleOrderedList</a:t>
            </a:r>
          </a:p>
          <a:p>
            <a:r>
              <a:rPr lang="en-US" b="1" dirty="0"/>
              <a:t>RedBlackTree.h / RedBlackTree.cpp</a:t>
            </a:r>
            <a:r>
              <a:rPr lang="ru-RU" b="1" dirty="0"/>
              <a:t> </a:t>
            </a:r>
            <a:r>
              <a:rPr lang="ru-RU" dirty="0"/>
              <a:t>- класс красно-чёрного дерева</a:t>
            </a:r>
            <a:endParaRPr lang="en-US" dirty="0"/>
          </a:p>
          <a:p>
            <a:r>
              <a:rPr lang="en-US" b="1" dirty="0"/>
              <a:t>RedBlackTreeExceptions.h</a:t>
            </a:r>
            <a:r>
              <a:rPr lang="ru-RU" dirty="0"/>
              <a:t> - классы исключений для</a:t>
            </a:r>
            <a:r>
              <a:rPr lang="en-US" dirty="0"/>
              <a:t> RedBlackTree</a:t>
            </a:r>
          </a:p>
          <a:p>
            <a:r>
              <a:rPr lang="en-US" b="1" dirty="0"/>
              <a:t>Dictionary.h / Dictionary.cpp</a:t>
            </a:r>
            <a:r>
              <a:rPr lang="ru-RU" b="1" dirty="0"/>
              <a:t> </a:t>
            </a:r>
            <a:r>
              <a:rPr lang="ru-RU" dirty="0"/>
              <a:t>- класс-обёртка, реализующий логику словаря</a:t>
            </a:r>
            <a:endParaRPr lang="en-US" dirty="0"/>
          </a:p>
          <a:p>
            <a:r>
              <a:rPr lang="en-US" b="1" dirty="0"/>
              <a:t>languageFunctions.h / languageFunctions.cpp</a:t>
            </a:r>
            <a:r>
              <a:rPr lang="ru-RU" b="1" dirty="0"/>
              <a:t> </a:t>
            </a:r>
            <a:r>
              <a:rPr lang="ru-RU" dirty="0"/>
              <a:t>- функции обработки текста</a:t>
            </a:r>
            <a:endParaRPr lang="en-US" dirty="0"/>
          </a:p>
          <a:p>
            <a:r>
              <a:rPr lang="en-US" b="1" dirty="0"/>
              <a:t>constants.h</a:t>
            </a:r>
            <a:r>
              <a:rPr lang="ru-RU" dirty="0"/>
              <a:t> - текстовые константы программы</a:t>
            </a:r>
            <a:endParaRPr lang="en-US" dirty="0"/>
          </a:p>
          <a:p>
            <a:r>
              <a:rPr lang="en-US" b="1" dirty="0"/>
              <a:t>main.cpp</a:t>
            </a:r>
            <a:r>
              <a:rPr lang="ru-RU" b="1" dirty="0"/>
              <a:t> </a:t>
            </a:r>
            <a:r>
              <a:rPr lang="ru-RU" dirty="0"/>
              <a:t>– основная функция программы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4BFC0-4546-71F0-1C33-F65D7CDBDDA4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9618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8278A-0CCE-32C1-BA1B-BE26F05B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4" y="561752"/>
            <a:ext cx="9358591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Тестирование и отладка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5939C-2852-06A2-9112-12E0C23F0ADF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A8D106-BE15-64E9-53B8-B987A8F42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24" y="2905051"/>
            <a:ext cx="9358590" cy="26807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020A0CDB-C24D-1808-4230-0DBE780C9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4" y="1643120"/>
            <a:ext cx="9358590" cy="823815"/>
          </a:xfrm>
        </p:spPr>
        <p:txBody>
          <a:bodyPr wrap="square">
            <a:spAutoFit/>
          </a:bodyPr>
          <a:lstStyle/>
          <a:p>
            <a:r>
              <a:rPr lang="ru-RU" dirty="0"/>
              <a:t>Работа программы при ошибочных входных данных</a:t>
            </a:r>
          </a:p>
          <a:p>
            <a:pPr marL="0" indent="0">
              <a:buNone/>
            </a:pPr>
            <a:r>
              <a:rPr lang="ru-RU" i="1" dirty="0"/>
              <a:t>(3.1.2. Перед словом отсутствует открывающая квадратная скобка)</a:t>
            </a:r>
          </a:p>
        </p:txBody>
      </p:sp>
    </p:spTree>
    <p:extLst>
      <p:ext uri="{BB962C8B-B14F-4D97-AF65-F5344CB8AC3E}">
        <p14:creationId xmlns:p14="http://schemas.microsoft.com/office/powerpoint/2010/main" val="1178335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F3F7-91AD-E78E-2869-18F58B3B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0D917-B8B8-95BC-34CF-C6FB3380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4" y="561752"/>
            <a:ext cx="9358591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Тестирование и отладка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B74A4-5646-62DB-B87F-036A27C75F84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DB92103-85AC-34AA-C977-782CACC39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5" y="1550841"/>
            <a:ext cx="9358590" cy="823815"/>
          </a:xfrm>
        </p:spPr>
        <p:txBody>
          <a:bodyPr wrap="square">
            <a:spAutoFit/>
          </a:bodyPr>
          <a:lstStyle/>
          <a:p>
            <a:r>
              <a:rPr lang="ru-RU" dirty="0"/>
              <a:t>Работа программы при корректных входных данных</a:t>
            </a:r>
          </a:p>
          <a:p>
            <a:pPr marL="0" indent="0">
              <a:buNone/>
            </a:pPr>
            <a:r>
              <a:rPr lang="ru-RU" i="1" dirty="0"/>
              <a:t>(3.1.8. Слово задано корректно и запись соответствует шаблону)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4A9B1F-AE08-B6F8-63CF-6E4945740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504" y="2720492"/>
            <a:ext cx="9362011" cy="3178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161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F82EC-9639-5FCF-320B-1C669F13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568806"/>
            <a:ext cx="9350202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6F8B9-5E8C-A18A-3026-04DAD965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4" y="1525145"/>
            <a:ext cx="9350203" cy="3807709"/>
          </a:xfrm>
        </p:spPr>
        <p:txBody>
          <a:bodyPr wrap="square">
            <a:spAutoFit/>
          </a:bodyPr>
          <a:lstStyle/>
          <a:p>
            <a:r>
              <a:rPr lang="ru-RU" dirty="0"/>
              <a:t>Изучены теоретические основы красно-чёрных деревьев (свойства, алгоритмы балансировки, операции поворота и перекрашивания)</a:t>
            </a:r>
          </a:p>
          <a:p>
            <a:r>
              <a:rPr lang="ru-RU" dirty="0"/>
              <a:t>Реализованы основные структуры данных</a:t>
            </a:r>
            <a:r>
              <a:rPr lang="en-US" dirty="0"/>
              <a:t>: </a:t>
            </a:r>
            <a:r>
              <a:rPr lang="ru-RU" dirty="0"/>
              <a:t>двусвязный упорядоченный список (</a:t>
            </a:r>
            <a:r>
              <a:rPr lang="en-US" dirty="0"/>
              <a:t>DoubleOrderedList), </a:t>
            </a:r>
            <a:r>
              <a:rPr lang="ru-RU" dirty="0"/>
              <a:t>красно-чёрное дерево (</a:t>
            </a:r>
            <a:r>
              <a:rPr lang="en-US" dirty="0" err="1"/>
              <a:t>RedBlackTree</a:t>
            </a:r>
            <a:r>
              <a:rPr lang="en-US" dirty="0"/>
              <a:t>)</a:t>
            </a:r>
          </a:p>
          <a:p>
            <a:r>
              <a:rPr lang="ru-RU" dirty="0"/>
              <a:t>Реализован класс словаря (</a:t>
            </a:r>
            <a:r>
              <a:rPr lang="en-US" dirty="0"/>
              <a:t>Dictionary), </a:t>
            </a:r>
            <a:r>
              <a:rPr lang="ru-RU" dirty="0"/>
              <a:t>обеспечивающий загрузку входного файла, обработку пользовательских команд, сохранение результатов в выходной файл</a:t>
            </a:r>
          </a:p>
          <a:p>
            <a:r>
              <a:rPr lang="ru-RU" dirty="0"/>
              <a:t>Обеспечена обработка исключительных ситуаций</a:t>
            </a:r>
            <a:r>
              <a:rPr lang="en-US" dirty="0"/>
              <a:t>: </a:t>
            </a:r>
            <a:r>
              <a:rPr lang="ru-RU" dirty="0"/>
              <a:t>некорректный формат записей, неверно заданное слово, перевод или вводимая команда и т.д.</a:t>
            </a:r>
          </a:p>
          <a:p>
            <a:r>
              <a:rPr lang="ru-RU" dirty="0"/>
              <a:t>Проведено тестирование всех операций и краевых случаев в соответствии с разработанным тест-планом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71E01-949F-EBCF-ECDB-2C0B0E22DBDB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03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DA0A27-8865-8B30-A332-A0720730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479" y="2430086"/>
            <a:ext cx="6774781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3C39D0-1345-6E8E-EF98-101D0819D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0999" y="3726184"/>
            <a:ext cx="2983321" cy="355482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/>
              <a:t>Ответы на ваши вопросы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F72E1-9DC4-0843-9F77-CA45F9A3EDF3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E739E1B-0836-643C-F511-F62175F18D1D}"/>
              </a:ext>
            </a:extLst>
          </p:cNvPr>
          <p:cNvCxnSpPr>
            <a:cxnSpLocks/>
          </p:cNvCxnSpPr>
          <p:nvPr/>
        </p:nvCxnSpPr>
        <p:spPr>
          <a:xfrm>
            <a:off x="2205060" y="3429000"/>
            <a:ext cx="6775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24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C07C-F0EC-5199-1098-7CB863C3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91DE9D-867E-68A9-3769-466406C56435}"/>
              </a:ext>
            </a:extLst>
          </p:cNvPr>
          <p:cNvSpPr txBox="1"/>
          <p:nvPr/>
        </p:nvSpPr>
        <p:spPr>
          <a:xfrm>
            <a:off x="11424576" y="6038850"/>
            <a:ext cx="6687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4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4914D6C-130C-121B-CC1D-7262C0E4D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24" y="1499659"/>
            <a:ext cx="9358591" cy="4539191"/>
          </a:xfrm>
        </p:spPr>
        <p:txBody>
          <a:bodyPr wrap="square">
            <a:spAutoFit/>
          </a:bodyPr>
          <a:lstStyle/>
          <a:p>
            <a:pPr marL="457200" lvl="0" indent="-450000">
              <a:buFont typeface="+mj-lt"/>
              <a:buAutoNum type="arabicPeriod"/>
            </a:pPr>
            <a:r>
              <a:rPr lang="ru-RU" dirty="0" err="1"/>
              <a:t>Кормен</a:t>
            </a:r>
            <a:r>
              <a:rPr lang="ru-RU" dirty="0"/>
              <a:t> Т.Х., </a:t>
            </a:r>
            <a:r>
              <a:rPr lang="ru-RU" dirty="0" err="1"/>
              <a:t>Лейзерсон</a:t>
            </a:r>
            <a:r>
              <a:rPr lang="ru-RU" dirty="0"/>
              <a:t> Ч.И., </a:t>
            </a:r>
            <a:r>
              <a:rPr lang="ru-RU" dirty="0" err="1"/>
              <a:t>Ривест</a:t>
            </a:r>
            <a:r>
              <a:rPr lang="ru-RU" dirty="0"/>
              <a:t> Р.Л., Штайн К. Алгоритмы: построение и анализ. – 3-е изд. – М.: Вильямс, 2013. – 1328 с.</a:t>
            </a:r>
          </a:p>
          <a:p>
            <a:pPr marL="457200" lvl="0" indent="-450000">
              <a:buFont typeface="+mj-lt"/>
              <a:buAutoNum type="arabicPeriod"/>
            </a:pPr>
            <a:r>
              <a:rPr lang="ru-RU" dirty="0"/>
              <a:t>Вирт Н. Алгоритмы и структуры данных. Новая версия для Оберона. – М.: ДМК Пресс, 2010. – 272 с.</a:t>
            </a:r>
          </a:p>
          <a:p>
            <a:pPr marL="457200" lvl="0" indent="-450000">
              <a:buFont typeface="+mj-lt"/>
              <a:buAutoNum type="arabicPeriod"/>
            </a:pPr>
            <a:r>
              <a:rPr lang="ru-RU" dirty="0"/>
              <a:t>Конспект «Красно-чёрное дерево» // ИТМО. Вики-конспекты. [Электронный ресурс].URL: </a:t>
            </a:r>
            <a:r>
              <a:rPr lang="ru-RU" u="sng" dirty="0">
                <a:hlinkClick r:id="rId2"/>
              </a:rPr>
              <a:t>https://neerc.ifmo.ru/wiki/index.php?title=Красно-черное_дерево</a:t>
            </a:r>
            <a:endParaRPr lang="ru-RU" dirty="0"/>
          </a:p>
          <a:p>
            <a:pPr marL="457200" lvl="0" indent="-450000">
              <a:buFont typeface="+mj-lt"/>
              <a:buAutoNum type="arabicPeriod"/>
            </a:pPr>
            <a:r>
              <a:rPr lang="ru-RU" dirty="0"/>
              <a:t>Седжвик Р. Фундаментальные алгоритмы на С++. Анализ/Структуры данных/Сортировка/Поиск. – К.: </a:t>
            </a:r>
            <a:r>
              <a:rPr lang="ru-RU" dirty="0" err="1"/>
              <a:t>ДиаСофт</a:t>
            </a:r>
            <a:r>
              <a:rPr lang="ru-RU" dirty="0"/>
              <a:t>, 2001. – 688 с.</a:t>
            </a:r>
          </a:p>
          <a:p>
            <a:pPr marL="457200" lvl="0" indent="-450000">
              <a:buFont typeface="+mj-lt"/>
              <a:buAutoNum type="arabicPeriod"/>
            </a:pPr>
            <a:r>
              <a:rPr lang="ru-RU" dirty="0"/>
              <a:t>Кубенский А.А. Структуры и алгоритмы обработки данных. Объектно-ориентированный подход и реализация на С++. – СПб.: БХВ-Петербург, 2004. – 464 с.</a:t>
            </a:r>
          </a:p>
          <a:p>
            <a:pPr marL="457200" lvl="0" indent="-450000">
              <a:buFont typeface="+mj-lt"/>
              <a:buAutoNum type="arabicPeriod"/>
            </a:pPr>
            <a:r>
              <a:rPr lang="en-US" dirty="0"/>
              <a:t>C++ Programming Style Guidelines. [</a:t>
            </a:r>
            <a:r>
              <a:rPr lang="ru-RU" dirty="0"/>
              <a:t>Электронный ресурс</a:t>
            </a:r>
            <a:r>
              <a:rPr lang="en-US" dirty="0"/>
              <a:t>]. URL: </a:t>
            </a:r>
            <a:r>
              <a:rPr lang="en-US" u="sng" dirty="0">
                <a:hlinkClick r:id="rId3"/>
              </a:rPr>
              <a:t>http://geosoft.no/development/cppstyle.html</a:t>
            </a:r>
            <a:endParaRPr lang="ru-RU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1570746-296C-344F-FF62-61DAB77D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25" y="561708"/>
            <a:ext cx="9358590" cy="701731"/>
          </a:xfrm>
        </p:spPr>
        <p:txBody>
          <a:bodyPr wrap="square">
            <a:spAutoFit/>
          </a:bodyPr>
          <a:lstStyle/>
          <a:p>
            <a:r>
              <a:rPr lang="ru-RU" b="1" dirty="0"/>
              <a:t>Список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994650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Вид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</TotalTime>
  <Words>1048</Words>
  <Application>Microsoft Office PowerPoint</Application>
  <PresentationFormat>Широкоэкранный</PresentationFormat>
  <Paragraphs>156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Century Schoolbook</vt:lpstr>
      <vt:lpstr>Wingdings</vt:lpstr>
      <vt:lpstr>Wingdings 2</vt:lpstr>
      <vt:lpstr>Вид</vt:lpstr>
      <vt:lpstr>Презентация PowerPoint</vt:lpstr>
      <vt:lpstr>Постановка задачи</vt:lpstr>
      <vt:lpstr>Структура данных «Красно-чёрное дерево»</vt:lpstr>
      <vt:lpstr>Пример красно-чёрного дерева</vt:lpstr>
      <vt:lpstr>Структура данных «Двусвязный список»</vt:lpstr>
      <vt:lpstr>Анализ алгоритмов</vt:lpstr>
      <vt:lpstr>Сравнение с другими структурами данных</vt:lpstr>
      <vt:lpstr>Форматы входных и выходных данных</vt:lpstr>
      <vt:lpstr>Пример входных и  выходных данных</vt:lpstr>
      <vt:lpstr>Список допустимых команд</vt:lpstr>
      <vt:lpstr>Структура программы</vt:lpstr>
      <vt:lpstr>Тестирование и отладка</vt:lpstr>
      <vt:lpstr>Тестирование и отладка</vt:lpstr>
      <vt:lpstr>Заключение</vt:lpstr>
      <vt:lpstr>Спасибо за внимание!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Olga Bahurova</dc:creator>
  <cp:lastModifiedBy>Olga Bahurova</cp:lastModifiedBy>
  <cp:revision>6</cp:revision>
  <dcterms:created xsi:type="dcterms:W3CDTF">2026-05-10T05:23:51Z</dcterms:created>
  <dcterms:modified xsi:type="dcterms:W3CDTF">2026-05-13T10:14:53Z</dcterms:modified>
</cp:coreProperties>
</file>